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119604" cy="2138415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psu_logo_trim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418" y="137160"/>
            <a:ext cx="1315994" cy="1298448"/>
          </a:xfrm>
          <a:prstGeom prst="rect">
            <a:avLst/>
          </a:prstGeom>
        </p:spPr>
      </p:pic>
      <p:pic>
        <p:nvPicPr>
          <p:cNvPr id="3" name="Picture 2" descr="school_logo_trim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5920" y="322485"/>
            <a:ext cx="1719072" cy="47974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91440"/>
            <a:ext cx="11384280" cy="1033271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3600" b="1" i="0">
                <a:solidFill>
                  <a:srgbClr val="4C4C4C"/>
                </a:solidFill>
                <a:latin typeface="Cambria"/>
              </a:rPr>
              <a:t>VoltSync: EV Charging Station Finder</a:t>
            </a:r>
          </a:p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3600" b="1" i="0">
                <a:solidFill>
                  <a:srgbClr val="4C4C4C"/>
                </a:solidFill>
                <a:latin typeface="Cambria"/>
              </a:rPr>
              <a:t>&amp; Booking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1161288"/>
            <a:ext cx="11292840" cy="28346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1E1E1E"/>
                </a:solidFill>
                <a:latin typeface="Cambria"/>
              </a:rPr>
              <a:t>Sabalpara Kabir Hasmukhbhai  |  Enrollment No. 23SE02CS092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463040"/>
            <a:ext cx="11384280" cy="40233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300" b="0" i="0">
                <a:solidFill>
                  <a:srgbClr val="1E1E1E"/>
                </a:solidFill>
                <a:latin typeface="Cambria"/>
              </a:rPr>
              <a:t>Company Mentor: Mr. Brijesh Dhanani  •  Institute Mentor: Ms. Khushbu Chauhan</a:t>
            </a:r>
          </a:p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300" b="0" i="0">
                <a:solidFill>
                  <a:srgbClr val="1E1E1E"/>
                </a:solidFill>
                <a:latin typeface="Cambria"/>
              </a:rPr>
              <a:t>P P Savani University, School of Engineering  |  B.Tech Computer Science &amp; Engineering, Semester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865376"/>
            <a:ext cx="11384280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C5C5C"/>
                </a:solidFill>
                <a:latin typeface="Cambria"/>
              </a:rPr>
              <a:t>Internship Organisation: Roshni WebSolutions  |  08 June – 03 October 2026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9184" y="2139696"/>
            <a:ext cx="14456664" cy="0"/>
          </a:xfrm>
          <a:prstGeom prst="line">
            <a:avLst/>
          </a:prstGeom>
          <a:ln w="19050">
            <a:solidFill>
              <a:srgbClr val="B71F25"/>
            </a:solidFill>
          </a:ln>
        </p:spPr>
      </p:cxnSp>
      <p:sp>
        <p:nvSpPr>
          <p:cNvPr id="9" name="Rounded Rectangle 8"/>
          <p:cNvSpPr/>
          <p:nvPr/>
        </p:nvSpPr>
        <p:spPr>
          <a:xfrm>
            <a:off x="329184" y="2276856"/>
            <a:ext cx="6903720" cy="420624"/>
          </a:xfrm>
          <a:prstGeom prst="roundRect">
            <a:avLst>
              <a:gd name="adj" fmla="val 12000"/>
            </a:avLst>
          </a:prstGeom>
          <a:solidFill>
            <a:srgbClr val="B71F25"/>
          </a:solidFill>
          <a:ln>
            <a:solidFill>
              <a:srgbClr val="B71F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" y="2290572"/>
            <a:ext cx="6757416" cy="3840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mbria"/>
              </a:rPr>
              <a:t>Introduction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" y="2734056"/>
            <a:ext cx="6903720" cy="140817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C62F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12064" y="2926080"/>
            <a:ext cx="91440" cy="91440"/>
          </a:xfrm>
          <a:prstGeom prst="ellipse">
            <a:avLst/>
          </a:prstGeom>
          <a:noFill/>
          <a:ln w="15240">
            <a:solidFill>
              <a:srgbClr val="B71F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816352"/>
            <a:ext cx="6355080" cy="539496"/>
          </a:xfrm>
          <a:prstGeom prst="rect">
            <a:avLst/>
          </a:prstGeom>
          <a:noFill/>
        </p:spPr>
        <p:txBody>
          <a:bodyPr wrap="square" lIns="4572" rIns="4572" tIns="4572" bIns="457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1E1E1E"/>
                </a:solidFill>
                <a:latin typeface="Cambria"/>
              </a:rPr>
              <a:t>EV drivers may reach a charging station only to find that compatible chargers are occupied or unavailable.</a:t>
            </a:r>
          </a:p>
        </p:txBody>
      </p:sp>
      <p:sp>
        <p:nvSpPr>
          <p:cNvPr id="14" name="Oval 13"/>
          <p:cNvSpPr/>
          <p:nvPr/>
        </p:nvSpPr>
        <p:spPr>
          <a:xfrm>
            <a:off x="512064" y="3483864"/>
            <a:ext cx="91440" cy="91440"/>
          </a:xfrm>
          <a:prstGeom prst="ellipse">
            <a:avLst/>
          </a:prstGeom>
          <a:noFill/>
          <a:ln w="15240">
            <a:solidFill>
              <a:srgbClr val="B71F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3374136"/>
            <a:ext cx="6355080" cy="585216"/>
          </a:xfrm>
          <a:prstGeom prst="rect">
            <a:avLst/>
          </a:prstGeom>
          <a:noFill/>
        </p:spPr>
        <p:txBody>
          <a:bodyPr wrap="square" lIns="4572" rIns="4572" tIns="4572" bIns="457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1E1E1E"/>
                </a:solidFill>
                <a:latin typeface="Cambria"/>
              </a:rPr>
              <a:t>VoltSync combines map-based station discovery, time-slot booking and operator controls to reduce uncertainty and prevent conflicting reservations.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" y="4288536"/>
            <a:ext cx="6903720" cy="420624"/>
          </a:xfrm>
          <a:prstGeom prst="roundRect">
            <a:avLst>
              <a:gd name="adj" fmla="val 12000"/>
            </a:avLst>
          </a:prstGeom>
          <a:solidFill>
            <a:srgbClr val="B71F25"/>
          </a:solidFill>
          <a:ln>
            <a:solidFill>
              <a:srgbClr val="B71F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" y="4302252"/>
            <a:ext cx="6757416" cy="3840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mbria"/>
              </a:rPr>
              <a:t>Objectives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" y="4745736"/>
            <a:ext cx="6903720" cy="14173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C62F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2064" y="4919472"/>
            <a:ext cx="91440" cy="91440"/>
          </a:xfrm>
          <a:prstGeom prst="ellipse">
            <a:avLst/>
          </a:prstGeom>
          <a:noFill/>
          <a:ln w="15240">
            <a:solidFill>
              <a:srgbClr val="B71F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4809744"/>
            <a:ext cx="6355080" cy="256032"/>
          </a:xfrm>
          <a:prstGeom prst="rect">
            <a:avLst/>
          </a:prstGeom>
          <a:noFill/>
        </p:spPr>
        <p:txBody>
          <a:bodyPr wrap="square" lIns="4572" rIns="4572" tIns="4572" bIns="457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1E1E1E"/>
                </a:solidFill>
                <a:latin typeface="Cambria"/>
              </a:rPr>
              <a:t>Find stations by connector, power, price and location.</a:t>
            </a:r>
          </a:p>
        </p:txBody>
      </p:sp>
      <p:sp>
        <p:nvSpPr>
          <p:cNvPr id="21" name="Oval 20"/>
          <p:cNvSpPr/>
          <p:nvPr/>
        </p:nvSpPr>
        <p:spPr>
          <a:xfrm>
            <a:off x="512064" y="5180076"/>
            <a:ext cx="91440" cy="91440"/>
          </a:xfrm>
          <a:prstGeom prst="ellipse">
            <a:avLst/>
          </a:prstGeom>
          <a:noFill/>
          <a:ln w="15240">
            <a:solidFill>
              <a:srgbClr val="B71F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5070348"/>
            <a:ext cx="6355080" cy="256032"/>
          </a:xfrm>
          <a:prstGeom prst="rect">
            <a:avLst/>
          </a:prstGeom>
          <a:noFill/>
        </p:spPr>
        <p:txBody>
          <a:bodyPr wrap="square" lIns="4572" rIns="4572" tIns="4572" bIns="457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1E1E1E"/>
                </a:solidFill>
                <a:latin typeface="Cambria"/>
              </a:rPr>
              <a:t>Reserve an available slot with a five-minute lock.</a:t>
            </a:r>
          </a:p>
        </p:txBody>
      </p:sp>
      <p:sp>
        <p:nvSpPr>
          <p:cNvPr id="23" name="Oval 22"/>
          <p:cNvSpPr/>
          <p:nvPr/>
        </p:nvSpPr>
        <p:spPr>
          <a:xfrm>
            <a:off x="512064" y="5440680"/>
            <a:ext cx="91440" cy="91440"/>
          </a:xfrm>
          <a:prstGeom prst="ellipse">
            <a:avLst/>
          </a:prstGeom>
          <a:noFill/>
          <a:ln w="15240">
            <a:solidFill>
              <a:srgbClr val="B71F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5330952"/>
            <a:ext cx="6355080" cy="256032"/>
          </a:xfrm>
          <a:prstGeom prst="rect">
            <a:avLst/>
          </a:prstGeom>
          <a:noFill/>
        </p:spPr>
        <p:txBody>
          <a:bodyPr wrap="square" lIns="4572" rIns="4572" tIns="4572" bIns="457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1E1E1E"/>
                </a:solidFill>
                <a:latin typeface="Cambria"/>
              </a:rPr>
              <a:t>Estimate charging time and energy cost.</a:t>
            </a:r>
          </a:p>
        </p:txBody>
      </p:sp>
      <p:sp>
        <p:nvSpPr>
          <p:cNvPr id="25" name="Oval 24"/>
          <p:cNvSpPr/>
          <p:nvPr/>
        </p:nvSpPr>
        <p:spPr>
          <a:xfrm>
            <a:off x="512064" y="5701284"/>
            <a:ext cx="91440" cy="91440"/>
          </a:xfrm>
          <a:prstGeom prst="ellipse">
            <a:avLst/>
          </a:prstGeom>
          <a:noFill/>
          <a:ln w="15240">
            <a:solidFill>
              <a:srgbClr val="B71F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" y="5591556"/>
            <a:ext cx="6355080" cy="256032"/>
          </a:xfrm>
          <a:prstGeom prst="rect">
            <a:avLst/>
          </a:prstGeom>
          <a:noFill/>
        </p:spPr>
        <p:txBody>
          <a:bodyPr wrap="square" lIns="4572" rIns="4572" tIns="4572" bIns="457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1E1E1E"/>
                </a:solidFill>
                <a:latin typeface="Cambria"/>
              </a:rPr>
              <a:t>Recommend a nearby free station when a hub is full.</a:t>
            </a:r>
          </a:p>
        </p:txBody>
      </p:sp>
      <p:sp>
        <p:nvSpPr>
          <p:cNvPr id="27" name="Oval 26"/>
          <p:cNvSpPr/>
          <p:nvPr/>
        </p:nvSpPr>
        <p:spPr>
          <a:xfrm>
            <a:off x="512064" y="5961888"/>
            <a:ext cx="91440" cy="91440"/>
          </a:xfrm>
          <a:prstGeom prst="ellipse">
            <a:avLst/>
          </a:prstGeom>
          <a:noFill/>
          <a:ln w="15240">
            <a:solidFill>
              <a:srgbClr val="B71F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852160"/>
            <a:ext cx="6355080" cy="256032"/>
          </a:xfrm>
          <a:prstGeom prst="rect">
            <a:avLst/>
          </a:prstGeom>
          <a:noFill/>
        </p:spPr>
        <p:txBody>
          <a:bodyPr wrap="square" lIns="4572" rIns="4572" tIns="4572" bIns="457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1E1E1E"/>
                </a:solidFill>
                <a:latin typeface="Cambria"/>
              </a:rPr>
              <a:t>Provide QR check-in and operator controls.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9184" y="6318504"/>
            <a:ext cx="6903720" cy="420624"/>
          </a:xfrm>
          <a:prstGeom prst="roundRect">
            <a:avLst>
              <a:gd name="adj" fmla="val 12000"/>
            </a:avLst>
          </a:prstGeom>
          <a:solidFill>
            <a:srgbClr val="B71F25"/>
          </a:solidFill>
          <a:ln>
            <a:solidFill>
              <a:srgbClr val="B71F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2336" y="6332220"/>
            <a:ext cx="6757416" cy="3840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mbria"/>
              </a:rPr>
              <a:t>Methodology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9184" y="6775704"/>
            <a:ext cx="6903720" cy="3657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C62F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" y="6858000"/>
            <a:ext cx="6519672" cy="246888"/>
          </a:xfrm>
          <a:prstGeom prst="rect">
            <a:avLst/>
          </a:prstGeom>
          <a:noFill/>
        </p:spPr>
        <p:txBody>
          <a:bodyPr wrap="square" lIns="4572" rIns="4572" tIns="4572" bIns="457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94151D"/>
                </a:solidFill>
                <a:latin typeface="Cambria"/>
              </a:rPr>
              <a:t>1. Station discovery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" y="7104888"/>
            <a:ext cx="6519672" cy="420624"/>
          </a:xfrm>
          <a:prstGeom prst="rect">
            <a:avLst/>
          </a:prstGeom>
          <a:noFill/>
        </p:spPr>
        <p:txBody>
          <a:bodyPr wrap="square" lIns="4572" rIns="4572" tIns="4572" bIns="457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1E1E1E"/>
                </a:solidFill>
                <a:latin typeface="Cambria"/>
              </a:rPr>
              <a:t>Map 16 seeded hubs in Surat using a Leaflet-based interface.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" y="7562088"/>
            <a:ext cx="6519672" cy="246888"/>
          </a:xfrm>
          <a:prstGeom prst="rect">
            <a:avLst/>
          </a:prstGeom>
          <a:noFill/>
        </p:spPr>
        <p:txBody>
          <a:bodyPr wrap="square" lIns="4572" rIns="4572" tIns="4572" bIns="457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94151D"/>
                </a:solidFill>
                <a:latin typeface="Cambria"/>
              </a:rPr>
              <a:t>2. Search and estimation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" y="7808975"/>
            <a:ext cx="6519672" cy="420624"/>
          </a:xfrm>
          <a:prstGeom prst="rect">
            <a:avLst/>
          </a:prstGeom>
          <a:noFill/>
        </p:spPr>
        <p:txBody>
          <a:bodyPr wrap="square" lIns="4572" rIns="4572" tIns="4572" bIns="457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1E1E1E"/>
                </a:solidFill>
                <a:latin typeface="Cambria"/>
              </a:rPr>
              <a:t>Filter stations and estimate charging time and energy cost.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" y="8266175"/>
            <a:ext cx="6519672" cy="246888"/>
          </a:xfrm>
          <a:prstGeom prst="rect">
            <a:avLst/>
          </a:prstGeom>
          <a:noFill/>
        </p:spPr>
        <p:txBody>
          <a:bodyPr wrap="square" lIns="4572" rIns="4572" tIns="4572" bIns="457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94151D"/>
                </a:solidFill>
                <a:latin typeface="Cambria"/>
              </a:rPr>
              <a:t>3. Safe reservation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" y="8513063"/>
            <a:ext cx="6519672" cy="420624"/>
          </a:xfrm>
          <a:prstGeom prst="rect">
            <a:avLst/>
          </a:prstGeom>
          <a:noFill/>
        </p:spPr>
        <p:txBody>
          <a:bodyPr wrap="square" lIns="4572" rIns="4572" tIns="4572" bIns="457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1E1E1E"/>
                </a:solidFill>
                <a:latin typeface="Cambria"/>
              </a:rPr>
              <a:t>Acquire a temporary atomic lock for five minutes.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" y="8970263"/>
            <a:ext cx="6519672" cy="246888"/>
          </a:xfrm>
          <a:prstGeom prst="rect">
            <a:avLst/>
          </a:prstGeom>
          <a:noFill/>
        </p:spPr>
        <p:txBody>
          <a:bodyPr wrap="square" lIns="4572" rIns="4572" tIns="4572" bIns="457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94151D"/>
                </a:solidFill>
                <a:latin typeface="Cambria"/>
              </a:rPr>
              <a:t>4. Smart rerouting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" y="9217151"/>
            <a:ext cx="6519672" cy="420624"/>
          </a:xfrm>
          <a:prstGeom prst="rect">
            <a:avLst/>
          </a:prstGeom>
          <a:noFill/>
        </p:spPr>
        <p:txBody>
          <a:bodyPr wrap="square" lIns="4572" rIns="4572" tIns="4572" bIns="457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1E1E1E"/>
                </a:solidFill>
                <a:latin typeface="Cambria"/>
              </a:rPr>
              <a:t>Recommend nearby free stations using Haversine distance.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" y="9674351"/>
            <a:ext cx="6519672" cy="246888"/>
          </a:xfrm>
          <a:prstGeom prst="rect">
            <a:avLst/>
          </a:prstGeom>
          <a:noFill/>
        </p:spPr>
        <p:txBody>
          <a:bodyPr wrap="square" lIns="4572" rIns="4572" tIns="4572" bIns="457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94151D"/>
                </a:solidFill>
                <a:latin typeface="Cambria"/>
              </a:rPr>
              <a:t>5. Check-in and operations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4" y="9921239"/>
            <a:ext cx="6519672" cy="420624"/>
          </a:xfrm>
          <a:prstGeom prst="rect">
            <a:avLst/>
          </a:prstGeom>
          <a:noFill/>
        </p:spPr>
        <p:txBody>
          <a:bodyPr wrap="square" lIns="4572" rIns="4572" tIns="4572" bIns="457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1E1E1E"/>
                </a:solidFill>
                <a:latin typeface="Cambria"/>
              </a:rPr>
              <a:t>Generate FastPass QR; operators manage stations and charger status.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9184" y="10488168"/>
            <a:ext cx="6903720" cy="420624"/>
          </a:xfrm>
          <a:prstGeom prst="roundRect">
            <a:avLst>
              <a:gd name="adj" fmla="val 12000"/>
            </a:avLst>
          </a:prstGeom>
          <a:solidFill>
            <a:srgbClr val="B71F25"/>
          </a:solidFill>
          <a:ln>
            <a:solidFill>
              <a:srgbClr val="B71F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2336" y="10501884"/>
            <a:ext cx="6757416" cy="3840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mbria"/>
              </a:rPr>
              <a:t>System architecture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9184" y="10945368"/>
            <a:ext cx="690372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C62F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3776" y="11009376"/>
            <a:ext cx="6574536" cy="35661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1E1E"/>
                </a:solidFill>
                <a:latin typeface="Cambria"/>
              </a:rPr>
              <a:t>Decoupled client-server application with a stateless REST API and cloud database.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3776" y="11548872"/>
            <a:ext cx="1353312" cy="521207"/>
          </a:xfrm>
          <a:prstGeom prst="roundRect">
            <a:avLst>
              <a:gd name="adj" fmla="val 7000"/>
            </a:avLst>
          </a:prstGeom>
          <a:solidFill>
            <a:srgbClr val="25639A"/>
          </a:solidFill>
          <a:ln>
            <a:solidFill>
              <a:srgbClr val="2563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1208" y="11585448"/>
            <a:ext cx="1298448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40" b="1" i="0">
                <a:solidFill>
                  <a:srgbClr val="FFFFFF"/>
                </a:solidFill>
                <a:latin typeface="Cambria"/>
              </a:rPr>
              <a:t>Driver / Operator</a:t>
            </a:r>
          </a:p>
        </p:txBody>
      </p:sp>
      <p:sp>
        <p:nvSpPr>
          <p:cNvPr id="48" name="Chevron 47"/>
          <p:cNvSpPr/>
          <p:nvPr/>
        </p:nvSpPr>
        <p:spPr>
          <a:xfrm>
            <a:off x="1920240" y="11722608"/>
            <a:ext cx="256032" cy="164592"/>
          </a:xfrm>
          <a:prstGeom prst="chevron">
            <a:avLst/>
          </a:prstGeom>
          <a:solidFill>
            <a:srgbClr val="D67E21"/>
          </a:solidFill>
          <a:ln>
            <a:solidFill>
              <a:srgbClr val="D67E2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231136" y="11548872"/>
            <a:ext cx="1353312" cy="521207"/>
          </a:xfrm>
          <a:prstGeom prst="roundRect">
            <a:avLst>
              <a:gd name="adj" fmla="val 7000"/>
            </a:avLst>
          </a:prstGeom>
          <a:solidFill>
            <a:srgbClr val="25639A"/>
          </a:solidFill>
          <a:ln>
            <a:solidFill>
              <a:srgbClr val="2563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58568" y="11585448"/>
            <a:ext cx="1298448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40" b="1" i="0">
                <a:solidFill>
                  <a:srgbClr val="FFFFFF"/>
                </a:solidFill>
                <a:latin typeface="Cambria"/>
              </a:rPr>
              <a:t>React 18 + Vite</a:t>
            </a:r>
          </a:p>
        </p:txBody>
      </p:sp>
      <p:sp>
        <p:nvSpPr>
          <p:cNvPr id="51" name="Chevron 50"/>
          <p:cNvSpPr/>
          <p:nvPr/>
        </p:nvSpPr>
        <p:spPr>
          <a:xfrm>
            <a:off x="3657600" y="11722608"/>
            <a:ext cx="256032" cy="164592"/>
          </a:xfrm>
          <a:prstGeom prst="chevron">
            <a:avLst/>
          </a:prstGeom>
          <a:solidFill>
            <a:srgbClr val="D67E21"/>
          </a:solidFill>
          <a:ln>
            <a:solidFill>
              <a:srgbClr val="D67E2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3968496" y="11548872"/>
            <a:ext cx="1353312" cy="521207"/>
          </a:xfrm>
          <a:prstGeom prst="roundRect">
            <a:avLst>
              <a:gd name="adj" fmla="val 7000"/>
            </a:avLst>
          </a:prstGeom>
          <a:solidFill>
            <a:srgbClr val="3193A7"/>
          </a:solidFill>
          <a:ln>
            <a:solidFill>
              <a:srgbClr val="3193A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95928" y="11585448"/>
            <a:ext cx="1298448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40" b="1" i="0">
                <a:solidFill>
                  <a:srgbClr val="FFFFFF"/>
                </a:solidFill>
                <a:latin typeface="Cambria"/>
              </a:rPr>
              <a:t>Express REST API</a:t>
            </a:r>
          </a:p>
        </p:txBody>
      </p:sp>
      <p:sp>
        <p:nvSpPr>
          <p:cNvPr id="54" name="Chevron 53"/>
          <p:cNvSpPr/>
          <p:nvPr/>
        </p:nvSpPr>
        <p:spPr>
          <a:xfrm>
            <a:off x="5394960" y="11722608"/>
            <a:ext cx="256032" cy="164592"/>
          </a:xfrm>
          <a:prstGeom prst="chevron">
            <a:avLst/>
          </a:prstGeom>
          <a:solidFill>
            <a:srgbClr val="D67E21"/>
          </a:solidFill>
          <a:ln>
            <a:solidFill>
              <a:srgbClr val="D67E2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705856" y="11548872"/>
            <a:ext cx="1353312" cy="521207"/>
          </a:xfrm>
          <a:prstGeom prst="roundRect">
            <a:avLst>
              <a:gd name="adj" fmla="val 7000"/>
            </a:avLst>
          </a:prstGeom>
          <a:solidFill>
            <a:srgbClr val="378353"/>
          </a:solidFill>
          <a:ln>
            <a:solidFill>
              <a:srgbClr val="3783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733288" y="11585448"/>
            <a:ext cx="1298448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40" b="1" i="0">
                <a:solidFill>
                  <a:srgbClr val="FFFFFF"/>
                </a:solidFill>
                <a:latin typeface="Cambria"/>
              </a:rPr>
              <a:t>MongoDB Atlas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3776" y="12234672"/>
            <a:ext cx="6574536" cy="4846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E1E1E"/>
                </a:solidFill>
                <a:latin typeface="Cambria"/>
              </a:rPr>
              <a:t>The report describes Leaflet.js mapping and MongoDB geospatial / compound unique partial indexes for location queries and booking integrity.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3776" y="12728448"/>
            <a:ext cx="6574536" cy="18288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 i="1">
                <a:solidFill>
                  <a:srgbClr val="1E1E1E"/>
                </a:solidFill>
                <a:latin typeface="Cambria"/>
              </a:rPr>
              <a:t>Figure 1. VoltSync application architecture.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29184" y="13066776"/>
            <a:ext cx="6903720" cy="420624"/>
          </a:xfrm>
          <a:prstGeom prst="roundRect">
            <a:avLst>
              <a:gd name="adj" fmla="val 12000"/>
            </a:avLst>
          </a:prstGeom>
          <a:solidFill>
            <a:srgbClr val="B71F25"/>
          </a:solidFill>
          <a:ln>
            <a:solidFill>
              <a:srgbClr val="B71F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2336" y="13080492"/>
            <a:ext cx="6757416" cy="3840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mbria"/>
              </a:rPr>
              <a:t>Booking integrity and fallback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29184" y="13523976"/>
            <a:ext cx="6903720" cy="2423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C62F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12064" y="13578840"/>
            <a:ext cx="6537959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94151D"/>
                </a:solidFill>
                <a:latin typeface="Cambria"/>
              </a:rPr>
              <a:t>Reservation lifecycle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30352" y="13999464"/>
            <a:ext cx="1353312" cy="630936"/>
          </a:xfrm>
          <a:prstGeom prst="roundRect">
            <a:avLst>
              <a:gd name="adj" fmla="val 7000"/>
            </a:avLst>
          </a:prstGeom>
          <a:solidFill>
            <a:srgbClr val="25639A"/>
          </a:solidFill>
          <a:ln>
            <a:solidFill>
              <a:srgbClr val="2563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66928" y="14054328"/>
            <a:ext cx="1280160" cy="51206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Select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slot</a:t>
            </a:r>
          </a:p>
        </p:txBody>
      </p:sp>
      <p:sp>
        <p:nvSpPr>
          <p:cNvPr id="65" name="Chevron 64"/>
          <p:cNvSpPr/>
          <p:nvPr/>
        </p:nvSpPr>
        <p:spPr>
          <a:xfrm>
            <a:off x="1956816" y="14228064"/>
            <a:ext cx="201168" cy="155448"/>
          </a:xfrm>
          <a:prstGeom prst="chevron">
            <a:avLst/>
          </a:prstGeom>
          <a:solidFill>
            <a:srgbClr val="D67E21"/>
          </a:solidFill>
          <a:ln>
            <a:solidFill>
              <a:srgbClr val="D67E2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2231136" y="13999464"/>
            <a:ext cx="1353312" cy="630936"/>
          </a:xfrm>
          <a:prstGeom prst="roundRect">
            <a:avLst>
              <a:gd name="adj" fmla="val 7000"/>
            </a:avLst>
          </a:prstGeom>
          <a:solidFill>
            <a:srgbClr val="B71F25"/>
          </a:solidFill>
          <a:ln>
            <a:solidFill>
              <a:srgbClr val="B71F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267712" y="14054328"/>
            <a:ext cx="1280160" cy="51206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Atomic lock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(5 minutes)</a:t>
            </a:r>
          </a:p>
        </p:txBody>
      </p:sp>
      <p:sp>
        <p:nvSpPr>
          <p:cNvPr id="68" name="Chevron 67"/>
          <p:cNvSpPr/>
          <p:nvPr/>
        </p:nvSpPr>
        <p:spPr>
          <a:xfrm>
            <a:off x="3657600" y="14228064"/>
            <a:ext cx="201168" cy="155448"/>
          </a:xfrm>
          <a:prstGeom prst="chevron">
            <a:avLst/>
          </a:prstGeom>
          <a:solidFill>
            <a:srgbClr val="D67E21"/>
          </a:solidFill>
          <a:ln>
            <a:solidFill>
              <a:srgbClr val="D67E2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931920" y="13999464"/>
            <a:ext cx="1353312" cy="630936"/>
          </a:xfrm>
          <a:prstGeom prst="roundRect">
            <a:avLst>
              <a:gd name="adj" fmla="val 7000"/>
            </a:avLst>
          </a:prstGeom>
          <a:solidFill>
            <a:srgbClr val="3193A7"/>
          </a:solidFill>
          <a:ln>
            <a:solidFill>
              <a:srgbClr val="3193A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968496" y="14054328"/>
            <a:ext cx="1280160" cy="51206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Payment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confirmation</a:t>
            </a:r>
          </a:p>
        </p:txBody>
      </p:sp>
      <p:sp>
        <p:nvSpPr>
          <p:cNvPr id="71" name="Chevron 70"/>
          <p:cNvSpPr/>
          <p:nvPr/>
        </p:nvSpPr>
        <p:spPr>
          <a:xfrm>
            <a:off x="5358383" y="14228064"/>
            <a:ext cx="201168" cy="155448"/>
          </a:xfrm>
          <a:prstGeom prst="chevron">
            <a:avLst/>
          </a:prstGeom>
          <a:solidFill>
            <a:srgbClr val="D67E21"/>
          </a:solidFill>
          <a:ln>
            <a:solidFill>
              <a:srgbClr val="D67E2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5632704" y="13999464"/>
            <a:ext cx="1353312" cy="630936"/>
          </a:xfrm>
          <a:prstGeom prst="roundRect">
            <a:avLst>
              <a:gd name="adj" fmla="val 7000"/>
            </a:avLst>
          </a:prstGeom>
          <a:solidFill>
            <a:srgbClr val="378353"/>
          </a:solidFill>
          <a:ln>
            <a:solidFill>
              <a:srgbClr val="3783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669280" y="14054328"/>
            <a:ext cx="1280160" cy="51206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FastPass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QR ticket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12064" y="14767560"/>
            <a:ext cx="6537959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E1E1E"/>
                </a:solidFill>
                <a:latin typeface="Cambria"/>
              </a:rPr>
              <a:t>If the lock expires or another booking has it, the slot is released or the API returns a conflict.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40080" y="15151608"/>
            <a:ext cx="6281928" cy="512064"/>
          </a:xfrm>
          <a:prstGeom prst="roundRect">
            <a:avLst>
              <a:gd name="adj" fmla="val 5000"/>
            </a:avLst>
          </a:prstGeom>
          <a:solidFill>
            <a:srgbClr val="FFF7F7"/>
          </a:solidFill>
          <a:ln>
            <a:solidFill>
              <a:srgbClr val="C62F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31520" y="15197328"/>
            <a:ext cx="6099048" cy="40233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20" b="1" i="0">
                <a:solidFill>
                  <a:srgbClr val="94151D"/>
                </a:solidFill>
                <a:latin typeface="Cambria"/>
              </a:rPr>
              <a:t>When a station is full, VoltSync can recommend the nearest operational alternative using Haversine distance.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29184" y="16011143"/>
            <a:ext cx="6903720" cy="420624"/>
          </a:xfrm>
          <a:prstGeom prst="roundRect">
            <a:avLst>
              <a:gd name="adj" fmla="val 12000"/>
            </a:avLst>
          </a:prstGeom>
          <a:solidFill>
            <a:srgbClr val="B71F25"/>
          </a:solidFill>
          <a:ln>
            <a:solidFill>
              <a:srgbClr val="B71F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02336" y="16024859"/>
            <a:ext cx="6757416" cy="3840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mbria"/>
              </a:rPr>
              <a:t>Technology and security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29184" y="16468343"/>
            <a:ext cx="6903720" cy="195681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C62F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12064" y="16550639"/>
            <a:ext cx="3063240" cy="274320"/>
          </a:xfrm>
          <a:prstGeom prst="rect">
            <a:avLst/>
          </a:prstGeom>
          <a:noFill/>
        </p:spPr>
        <p:txBody>
          <a:bodyPr wrap="square" lIns="4572" rIns="4572" tIns="4572" bIns="457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94151D"/>
                </a:solidFill>
                <a:latin typeface="Cambria"/>
              </a:rPr>
              <a:t>TECHNOLOGY STACK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12064" y="16843248"/>
            <a:ext cx="3090672" cy="1481328"/>
          </a:xfrm>
          <a:prstGeom prst="rect">
            <a:avLst/>
          </a:prstGeom>
          <a:noFill/>
        </p:spPr>
        <p:txBody>
          <a:bodyPr wrap="square" lIns="4572" rIns="4572" tIns="4572" bIns="457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1E1E"/>
                </a:solidFill>
                <a:latin typeface="Cambria"/>
              </a:rPr>
              <a:t>Frontend: React 18, Vite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1E1E"/>
                </a:solidFill>
                <a:latin typeface="Cambria"/>
              </a:rPr>
              <a:t>Backend: Node.js, Express.js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1E1E"/>
                </a:solidFill>
                <a:latin typeface="Cambria"/>
              </a:rPr>
              <a:t>Database: MongoDB Atlas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1E1E"/>
                </a:solidFill>
                <a:latin typeface="Cambria"/>
              </a:rPr>
              <a:t>Maps: Leaflet.js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1E1E"/>
                </a:solidFill>
                <a:latin typeface="Cambria"/>
              </a:rPr>
              <a:t>Hosting: Vercel, Render, Atlas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3803904" y="16596359"/>
            <a:ext cx="0" cy="1828801"/>
          </a:xfrm>
          <a:prstGeom prst="line">
            <a:avLst/>
          </a:prstGeom>
          <a:ln w="12700">
            <a:solidFill>
              <a:srgbClr val="DADADA"/>
            </a:solidFill>
          </a:ln>
        </p:spPr>
      </p:cxnSp>
      <p:sp>
        <p:nvSpPr>
          <p:cNvPr id="83" name="TextBox 82"/>
          <p:cNvSpPr txBox="1"/>
          <p:nvPr/>
        </p:nvSpPr>
        <p:spPr>
          <a:xfrm>
            <a:off x="3986784" y="16550639"/>
            <a:ext cx="2971800" cy="274320"/>
          </a:xfrm>
          <a:prstGeom prst="rect">
            <a:avLst/>
          </a:prstGeom>
          <a:noFill/>
        </p:spPr>
        <p:txBody>
          <a:bodyPr wrap="square" lIns="4572" rIns="4572" tIns="4572" bIns="457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94151D"/>
                </a:solidFill>
                <a:latin typeface="Cambria"/>
              </a:rPr>
              <a:t>SECURITY CONTROLS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986784" y="16843248"/>
            <a:ext cx="2962656" cy="1481328"/>
          </a:xfrm>
          <a:prstGeom prst="rect">
            <a:avLst/>
          </a:prstGeom>
          <a:noFill/>
        </p:spPr>
        <p:txBody>
          <a:bodyPr wrap="square" lIns="4572" rIns="4572" tIns="4572" bIns="457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1E1E"/>
                </a:solidFill>
                <a:latin typeface="Cambria"/>
              </a:rPr>
              <a:t>• bcryptjs salted password hashing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1E1E"/>
                </a:solidFill>
                <a:latin typeface="Cambria"/>
              </a:rPr>
              <a:t>• JWT authentication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1E1E"/>
                </a:solidFill>
                <a:latin typeface="Cambria"/>
              </a:rPr>
              <a:t>• Driver / Operator RBAC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1E1E"/>
                </a:solidFill>
                <a:latin typeface="Cambria"/>
              </a:rPr>
              <a:t>• IDOR protection on reservations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1E1E"/>
                </a:solidFill>
                <a:latin typeface="Cambria"/>
              </a:rPr>
              <a:t>• NoSQL query sanitization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29184" y="18589752"/>
            <a:ext cx="6903720" cy="420624"/>
          </a:xfrm>
          <a:prstGeom prst="roundRect">
            <a:avLst>
              <a:gd name="adj" fmla="val 12000"/>
            </a:avLst>
          </a:prstGeom>
          <a:solidFill>
            <a:srgbClr val="B71F25"/>
          </a:solidFill>
          <a:ln>
            <a:solidFill>
              <a:srgbClr val="B71F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02336" y="18603468"/>
            <a:ext cx="6757416" cy="3840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mbria"/>
              </a:rPr>
              <a:t>Deployment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329184" y="19046952"/>
            <a:ext cx="6903720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C62F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12064" y="19138392"/>
            <a:ext cx="3108960" cy="256032"/>
          </a:xfrm>
          <a:prstGeom prst="rect">
            <a:avLst/>
          </a:prstGeom>
          <a:noFill/>
        </p:spPr>
        <p:txBody>
          <a:bodyPr wrap="square" lIns="4572" rIns="4572" tIns="4572" bIns="457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94151D"/>
                </a:solidFill>
                <a:latin typeface="Cambria"/>
              </a:rPr>
              <a:t>PRODUCTION HOSTING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12064" y="19431000"/>
            <a:ext cx="3108960" cy="950976"/>
          </a:xfrm>
          <a:prstGeom prst="rect">
            <a:avLst/>
          </a:prstGeom>
          <a:noFill/>
        </p:spPr>
        <p:txBody>
          <a:bodyPr wrap="square" lIns="4572" rIns="4572" tIns="4572" bIns="457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1E1E"/>
                </a:solidFill>
                <a:latin typeface="Cambria"/>
              </a:rPr>
              <a:t>Frontend: Vercel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1E1E"/>
                </a:solidFill>
                <a:latin typeface="Cambria"/>
              </a:rPr>
              <a:t>Backend API: Render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1E1E"/>
                </a:solidFill>
                <a:latin typeface="Cambria"/>
              </a:rPr>
              <a:t>Database: MongoDB Atlas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3803904" y="19174968"/>
            <a:ext cx="0" cy="1225296"/>
          </a:xfrm>
          <a:prstGeom prst="line">
            <a:avLst/>
          </a:prstGeom>
          <a:ln w="12700">
            <a:solidFill>
              <a:srgbClr val="DADADA"/>
            </a:solidFill>
          </a:ln>
        </p:spPr>
      </p:cxnSp>
      <p:sp>
        <p:nvSpPr>
          <p:cNvPr id="91" name="TextBox 90"/>
          <p:cNvSpPr txBox="1"/>
          <p:nvPr/>
        </p:nvSpPr>
        <p:spPr>
          <a:xfrm>
            <a:off x="3986784" y="19138392"/>
            <a:ext cx="2926080" cy="256032"/>
          </a:xfrm>
          <a:prstGeom prst="rect">
            <a:avLst/>
          </a:prstGeom>
          <a:noFill/>
        </p:spPr>
        <p:txBody>
          <a:bodyPr wrap="square" lIns="4572" rIns="4572" tIns="4572" bIns="457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94151D"/>
                </a:solidFill>
                <a:latin typeface="Cambria"/>
              </a:rPr>
              <a:t>DOCUMENTED SCOPE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986784" y="19431000"/>
            <a:ext cx="2907792" cy="950976"/>
          </a:xfrm>
          <a:prstGeom prst="rect">
            <a:avLst/>
          </a:prstGeom>
          <a:noFill/>
        </p:spPr>
        <p:txBody>
          <a:bodyPr wrap="square" lIns="4572" rIns="4572" tIns="4572" bIns="457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70" b="0" i="0">
                <a:solidFill>
                  <a:srgbClr val="1E1E1E"/>
                </a:solidFill>
                <a:latin typeface="Cambria"/>
              </a:rPr>
              <a:t>Responsive web application; simulated payment; no physical charging hardware integration.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7845552" y="2276856"/>
            <a:ext cx="6940296" cy="420624"/>
          </a:xfrm>
          <a:prstGeom prst="roundRect">
            <a:avLst>
              <a:gd name="adj" fmla="val 12000"/>
            </a:avLst>
          </a:prstGeom>
          <a:solidFill>
            <a:srgbClr val="B71F25"/>
          </a:solidFill>
          <a:ln>
            <a:solidFill>
              <a:srgbClr val="B71F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918704" y="2290572"/>
            <a:ext cx="6793992" cy="3840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mbria"/>
              </a:rPr>
              <a:t>Results and discussion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7845552" y="2734056"/>
            <a:ext cx="6940296" cy="9144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C62F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010144" y="2788920"/>
            <a:ext cx="6611112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50" b="1" i="0">
                <a:solidFill>
                  <a:srgbClr val="94151D"/>
                </a:solidFill>
                <a:latin typeface="Cambria"/>
              </a:rPr>
              <a:t>Interactive station map and availability markers</a:t>
            </a:r>
          </a:p>
        </p:txBody>
      </p:sp>
      <p:pic>
        <p:nvPicPr>
          <p:cNvPr id="97" name="Picture 96" descr="station_ma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3108960"/>
            <a:ext cx="6355080" cy="3600168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8028431" y="6718272"/>
            <a:ext cx="6574536" cy="28346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0" i="1">
                <a:solidFill>
                  <a:srgbClr val="1E1E1E"/>
                </a:solidFill>
                <a:latin typeface="Cambria"/>
              </a:rPr>
              <a:t>Figure 2. Map-based station finder (project report screenshot).</a:t>
            </a:r>
          </a:p>
        </p:txBody>
      </p:sp>
      <p:pic>
        <p:nvPicPr>
          <p:cNvPr id="99" name="Picture 98" descr="booking_slot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1583" y="7010880"/>
            <a:ext cx="3131820" cy="1798470"/>
          </a:xfrm>
          <a:prstGeom prst="rect">
            <a:avLst/>
          </a:prstGeom>
        </p:spPr>
      </p:pic>
      <p:pic>
        <p:nvPicPr>
          <p:cNvPr id="100" name="Picture 99" descr="fastpass_qr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08332" y="7010880"/>
            <a:ext cx="3111147" cy="1798470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8101583" y="8813923"/>
            <a:ext cx="3131820" cy="30175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0" i="1">
                <a:solidFill>
                  <a:srgbClr val="1E1E1E"/>
                </a:solidFill>
                <a:latin typeface="Cambria"/>
              </a:rPr>
              <a:t>Figure 3. Slot selection and reservation lock.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1397996" y="8813923"/>
            <a:ext cx="3131820" cy="30175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0" i="1">
                <a:solidFill>
                  <a:srgbClr val="1E1E1E"/>
                </a:solidFill>
                <a:latin typeface="Cambria"/>
              </a:rPr>
              <a:t>Figure 4. Digital FastPass QR ticket.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046720" y="9175111"/>
            <a:ext cx="2106168" cy="7406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8C8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083296" y="9239119"/>
            <a:ext cx="2033015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25639A"/>
                </a:solidFill>
                <a:latin typeface="Cambria"/>
              </a:rPr>
              <a:t>16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083296" y="9586591"/>
            <a:ext cx="2033015" cy="2468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E1E1E"/>
                </a:solidFill>
                <a:latin typeface="Cambria"/>
              </a:rPr>
              <a:t>charging hubs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0262616" y="9175111"/>
            <a:ext cx="2106168" cy="7406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8C8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299192" y="9239119"/>
            <a:ext cx="2033015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B71F25"/>
                </a:solidFill>
                <a:latin typeface="Cambria"/>
              </a:rPr>
              <a:t>5 min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299192" y="9586591"/>
            <a:ext cx="2033015" cy="2468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E1E1E"/>
                </a:solidFill>
                <a:latin typeface="Cambria"/>
              </a:rPr>
              <a:t>temporary slot lock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12478512" y="9175111"/>
            <a:ext cx="2106168" cy="7406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8C8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2515088" y="9239119"/>
            <a:ext cx="2033015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378353"/>
                </a:solidFill>
                <a:latin typeface="Cambria"/>
              </a:rPr>
              <a:t>25 / 25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2515088" y="9586591"/>
            <a:ext cx="2033015" cy="2468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E1E1E"/>
                </a:solidFill>
                <a:latin typeface="Cambria"/>
              </a:rPr>
              <a:t>regression tests passed*</a:t>
            </a:r>
          </a:p>
        </p:txBody>
      </p:sp>
      <p:sp>
        <p:nvSpPr>
          <p:cNvPr id="112" name="Oval 111"/>
          <p:cNvSpPr/>
          <p:nvPr/>
        </p:nvSpPr>
        <p:spPr>
          <a:xfrm>
            <a:off x="8046720" y="10116943"/>
            <a:ext cx="91440" cy="91440"/>
          </a:xfrm>
          <a:prstGeom prst="ellipse">
            <a:avLst/>
          </a:prstGeom>
          <a:noFill/>
          <a:ln w="15240">
            <a:solidFill>
              <a:srgbClr val="B71F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211312" y="10007215"/>
            <a:ext cx="6373368" cy="438912"/>
          </a:xfrm>
          <a:prstGeom prst="rect">
            <a:avLst/>
          </a:prstGeom>
          <a:noFill/>
        </p:spPr>
        <p:txBody>
          <a:bodyPr wrap="square" lIns="4572" rIns="4572" tIns="4572" bIns="457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1E1E"/>
                </a:solidFill>
                <a:latin typeface="Cambria"/>
              </a:rPr>
              <a:t>Atomic locks and a unique partial index protect active reservations from double-booking.</a:t>
            </a:r>
          </a:p>
        </p:txBody>
      </p:sp>
      <p:sp>
        <p:nvSpPr>
          <p:cNvPr id="114" name="Oval 113"/>
          <p:cNvSpPr/>
          <p:nvPr/>
        </p:nvSpPr>
        <p:spPr>
          <a:xfrm>
            <a:off x="8046720" y="10564999"/>
            <a:ext cx="91440" cy="91440"/>
          </a:xfrm>
          <a:prstGeom prst="ellipse">
            <a:avLst/>
          </a:prstGeom>
          <a:noFill/>
          <a:ln w="15240">
            <a:solidFill>
              <a:srgbClr val="B71F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211312" y="10455271"/>
            <a:ext cx="6373368" cy="438912"/>
          </a:xfrm>
          <a:prstGeom prst="rect">
            <a:avLst/>
          </a:prstGeom>
          <a:noFill/>
        </p:spPr>
        <p:txBody>
          <a:bodyPr wrap="square" lIns="4572" rIns="4572" tIns="4572" bIns="457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1E1E"/>
                </a:solidFill>
                <a:latin typeface="Cambria"/>
              </a:rPr>
              <a:t>Reported deployment: Vercel frontend, Render API and MongoDB Atlas database.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046720" y="11192256"/>
            <a:ext cx="6537959" cy="20116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80" b="0" i="1">
                <a:solidFill>
                  <a:srgbClr val="5C5C5C"/>
                </a:solidFill>
                <a:latin typeface="Cambria"/>
              </a:rPr>
              <a:t>*Test totals and project metrics are reproduced from the supplied final report.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7845552" y="12015216"/>
            <a:ext cx="6940296" cy="420624"/>
          </a:xfrm>
          <a:prstGeom prst="roundRect">
            <a:avLst>
              <a:gd name="adj" fmla="val 12000"/>
            </a:avLst>
          </a:prstGeom>
          <a:solidFill>
            <a:srgbClr val="B71F25"/>
          </a:solidFill>
          <a:ln>
            <a:solidFill>
              <a:srgbClr val="B71F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918704" y="12028932"/>
            <a:ext cx="6793992" cy="3840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mbria"/>
              </a:rPr>
              <a:t>Testing and validation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7845552" y="12472416"/>
            <a:ext cx="6940296" cy="2240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C62F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046720" y="12527280"/>
            <a:ext cx="3072384" cy="283464"/>
          </a:xfrm>
          <a:prstGeom prst="rect">
            <a:avLst/>
          </a:prstGeom>
          <a:solidFill>
            <a:srgbClr val="ECECEC"/>
          </a:solidFill>
          <a:ln>
            <a:solidFill>
              <a:srgbClr val="AAAA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069580" y="12545568"/>
            <a:ext cx="3026664" cy="24688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E1E1E"/>
                </a:solidFill>
                <a:latin typeface="Cambria"/>
              </a:rPr>
              <a:t>Testing area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1119104" y="12527280"/>
            <a:ext cx="1051560" cy="283464"/>
          </a:xfrm>
          <a:prstGeom prst="rect">
            <a:avLst/>
          </a:prstGeom>
          <a:solidFill>
            <a:srgbClr val="ECECEC"/>
          </a:solidFill>
          <a:ln>
            <a:solidFill>
              <a:srgbClr val="AAAA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1141964" y="12545568"/>
            <a:ext cx="1005839" cy="24688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E1E1E"/>
                </a:solidFill>
                <a:latin typeface="Cambria"/>
              </a:rPr>
              <a:t>Tests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2170664" y="12527280"/>
            <a:ext cx="1051560" cy="283464"/>
          </a:xfrm>
          <a:prstGeom prst="rect">
            <a:avLst/>
          </a:prstGeom>
          <a:solidFill>
            <a:srgbClr val="ECECEC"/>
          </a:solidFill>
          <a:ln>
            <a:solidFill>
              <a:srgbClr val="AAAA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2193524" y="12545568"/>
            <a:ext cx="1005839" cy="24688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E1E1E"/>
                </a:solidFill>
                <a:latin typeface="Cambria"/>
              </a:rPr>
              <a:t>Passed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3222224" y="12527280"/>
            <a:ext cx="1024128" cy="283464"/>
          </a:xfrm>
          <a:prstGeom prst="rect">
            <a:avLst/>
          </a:prstGeom>
          <a:solidFill>
            <a:srgbClr val="ECECEC"/>
          </a:solidFill>
          <a:ln>
            <a:solidFill>
              <a:srgbClr val="AAAA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3245084" y="12545568"/>
            <a:ext cx="978408" cy="24688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E1E1E"/>
                </a:solidFill>
                <a:latin typeface="Cambria"/>
              </a:rPr>
              <a:t>Failed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046720" y="12810744"/>
            <a:ext cx="3072384" cy="283464"/>
          </a:xfrm>
          <a:prstGeom prst="rect">
            <a:avLst/>
          </a:prstGeom>
          <a:solidFill>
            <a:srgbClr val="FFFFFF"/>
          </a:solidFill>
          <a:ln>
            <a:solidFill>
              <a:srgbClr val="B9B9B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069580" y="12829032"/>
            <a:ext cx="3026664" cy="24688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E1E1E"/>
                </a:solidFill>
                <a:latin typeface="Cambria"/>
              </a:rPr>
              <a:t>Functional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1119104" y="12810744"/>
            <a:ext cx="1051560" cy="283464"/>
          </a:xfrm>
          <a:prstGeom prst="rect">
            <a:avLst/>
          </a:prstGeom>
          <a:solidFill>
            <a:srgbClr val="FFFFFF"/>
          </a:solidFill>
          <a:ln>
            <a:solidFill>
              <a:srgbClr val="B9B9B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1141964" y="12829032"/>
            <a:ext cx="1005839" cy="24688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E1E1E"/>
                </a:solidFill>
                <a:latin typeface="Cambria"/>
              </a:rPr>
              <a:t>8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2170664" y="12810744"/>
            <a:ext cx="1051560" cy="283464"/>
          </a:xfrm>
          <a:prstGeom prst="rect">
            <a:avLst/>
          </a:prstGeom>
          <a:solidFill>
            <a:srgbClr val="FFFFFF"/>
          </a:solidFill>
          <a:ln>
            <a:solidFill>
              <a:srgbClr val="B9B9B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2193524" y="12829032"/>
            <a:ext cx="1005839" cy="24688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E1E1E"/>
                </a:solidFill>
                <a:latin typeface="Cambria"/>
              </a:rPr>
              <a:t>8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3222224" y="12810744"/>
            <a:ext cx="1024128" cy="283464"/>
          </a:xfrm>
          <a:prstGeom prst="rect">
            <a:avLst/>
          </a:prstGeom>
          <a:solidFill>
            <a:srgbClr val="FFFFFF"/>
          </a:solidFill>
          <a:ln>
            <a:solidFill>
              <a:srgbClr val="B9B9B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3245084" y="12829032"/>
            <a:ext cx="978408" cy="24688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E1E1E"/>
                </a:solidFill>
                <a:latin typeface="Cambria"/>
              </a:rPr>
              <a:t>0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046720" y="13094208"/>
            <a:ext cx="3072384" cy="283464"/>
          </a:xfrm>
          <a:prstGeom prst="rect">
            <a:avLst/>
          </a:prstGeom>
          <a:solidFill>
            <a:srgbClr val="FFFFFF"/>
          </a:solidFill>
          <a:ln>
            <a:solidFill>
              <a:srgbClr val="B9B9B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8069580" y="13112496"/>
            <a:ext cx="3026664" cy="24688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E1E1E"/>
                </a:solidFill>
                <a:latin typeface="Cambria"/>
              </a:rPr>
              <a:t>Integration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1119104" y="13094208"/>
            <a:ext cx="1051560" cy="283464"/>
          </a:xfrm>
          <a:prstGeom prst="rect">
            <a:avLst/>
          </a:prstGeom>
          <a:solidFill>
            <a:srgbClr val="FFFFFF"/>
          </a:solidFill>
          <a:ln>
            <a:solidFill>
              <a:srgbClr val="B9B9B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1141964" y="13112496"/>
            <a:ext cx="1005839" cy="24688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E1E1E"/>
                </a:solidFill>
                <a:latin typeface="Cambria"/>
              </a:rPr>
              <a:t>6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2170664" y="13094208"/>
            <a:ext cx="1051560" cy="283464"/>
          </a:xfrm>
          <a:prstGeom prst="rect">
            <a:avLst/>
          </a:prstGeom>
          <a:solidFill>
            <a:srgbClr val="FFFFFF"/>
          </a:solidFill>
          <a:ln>
            <a:solidFill>
              <a:srgbClr val="B9B9B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2193524" y="13112496"/>
            <a:ext cx="1005839" cy="24688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E1E1E"/>
                </a:solidFill>
                <a:latin typeface="Cambria"/>
              </a:rPr>
              <a:t>6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3222224" y="13094208"/>
            <a:ext cx="1024128" cy="283464"/>
          </a:xfrm>
          <a:prstGeom prst="rect">
            <a:avLst/>
          </a:prstGeom>
          <a:solidFill>
            <a:srgbClr val="FFFFFF"/>
          </a:solidFill>
          <a:ln>
            <a:solidFill>
              <a:srgbClr val="B9B9B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3245084" y="13112496"/>
            <a:ext cx="978408" cy="24688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E1E1E"/>
                </a:solidFill>
                <a:latin typeface="Cambria"/>
              </a:rPr>
              <a:t>0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8046720" y="13377672"/>
            <a:ext cx="3072384" cy="283464"/>
          </a:xfrm>
          <a:prstGeom prst="rect">
            <a:avLst/>
          </a:prstGeom>
          <a:solidFill>
            <a:srgbClr val="FFFFFF"/>
          </a:solidFill>
          <a:ln>
            <a:solidFill>
              <a:srgbClr val="B9B9B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8069580" y="13395960"/>
            <a:ext cx="3026664" cy="24688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E1E1E"/>
                </a:solidFill>
                <a:latin typeface="Cambria"/>
              </a:rPr>
              <a:t>System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1119104" y="13377672"/>
            <a:ext cx="1051560" cy="283464"/>
          </a:xfrm>
          <a:prstGeom prst="rect">
            <a:avLst/>
          </a:prstGeom>
          <a:solidFill>
            <a:srgbClr val="FFFFFF"/>
          </a:solidFill>
          <a:ln>
            <a:solidFill>
              <a:srgbClr val="B9B9B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1141964" y="13395960"/>
            <a:ext cx="1005839" cy="24688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E1E1E"/>
                </a:solidFill>
                <a:latin typeface="Cambria"/>
              </a:rPr>
              <a:t>4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2170664" y="13377672"/>
            <a:ext cx="1051560" cy="283464"/>
          </a:xfrm>
          <a:prstGeom prst="rect">
            <a:avLst/>
          </a:prstGeom>
          <a:solidFill>
            <a:srgbClr val="FFFFFF"/>
          </a:solidFill>
          <a:ln>
            <a:solidFill>
              <a:srgbClr val="B9B9B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2193524" y="13395960"/>
            <a:ext cx="1005839" cy="24688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E1E1E"/>
                </a:solidFill>
                <a:latin typeface="Cambria"/>
              </a:rPr>
              <a:t>4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3222224" y="13377672"/>
            <a:ext cx="1024128" cy="283464"/>
          </a:xfrm>
          <a:prstGeom prst="rect">
            <a:avLst/>
          </a:prstGeom>
          <a:solidFill>
            <a:srgbClr val="FFFFFF"/>
          </a:solidFill>
          <a:ln>
            <a:solidFill>
              <a:srgbClr val="B9B9B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3245084" y="13395960"/>
            <a:ext cx="978408" cy="24688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E1E1E"/>
                </a:solidFill>
                <a:latin typeface="Cambria"/>
              </a:rPr>
              <a:t>0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8046720" y="13661136"/>
            <a:ext cx="3072384" cy="283464"/>
          </a:xfrm>
          <a:prstGeom prst="rect">
            <a:avLst/>
          </a:prstGeom>
          <a:solidFill>
            <a:srgbClr val="FFFFFF"/>
          </a:solidFill>
          <a:ln>
            <a:solidFill>
              <a:srgbClr val="B9B9B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8069580" y="13679424"/>
            <a:ext cx="3026664" cy="24688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E1E1E"/>
                </a:solidFill>
                <a:latin typeface="Cambria"/>
              </a:rPr>
              <a:t>Performance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1119104" y="13661136"/>
            <a:ext cx="1051560" cy="283464"/>
          </a:xfrm>
          <a:prstGeom prst="rect">
            <a:avLst/>
          </a:prstGeom>
          <a:solidFill>
            <a:srgbClr val="FFFFFF"/>
          </a:solidFill>
          <a:ln>
            <a:solidFill>
              <a:srgbClr val="B9B9B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1141964" y="13679424"/>
            <a:ext cx="1005839" cy="24688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E1E1E"/>
                </a:solidFill>
                <a:latin typeface="Cambria"/>
              </a:rPr>
              <a:t>4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2170664" y="13661136"/>
            <a:ext cx="1051560" cy="283464"/>
          </a:xfrm>
          <a:prstGeom prst="rect">
            <a:avLst/>
          </a:prstGeom>
          <a:solidFill>
            <a:srgbClr val="FFFFFF"/>
          </a:solidFill>
          <a:ln>
            <a:solidFill>
              <a:srgbClr val="B9B9B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2193524" y="13679424"/>
            <a:ext cx="1005839" cy="24688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E1E1E"/>
                </a:solidFill>
                <a:latin typeface="Cambria"/>
              </a:rPr>
              <a:t>4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3222224" y="13661136"/>
            <a:ext cx="1024128" cy="283464"/>
          </a:xfrm>
          <a:prstGeom prst="rect">
            <a:avLst/>
          </a:prstGeom>
          <a:solidFill>
            <a:srgbClr val="FFFFFF"/>
          </a:solidFill>
          <a:ln>
            <a:solidFill>
              <a:srgbClr val="B9B9B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3245084" y="13679424"/>
            <a:ext cx="978408" cy="24688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E1E1E"/>
                </a:solidFill>
                <a:latin typeface="Cambria"/>
              </a:rPr>
              <a:t>0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8046720" y="13944600"/>
            <a:ext cx="3072384" cy="283464"/>
          </a:xfrm>
          <a:prstGeom prst="rect">
            <a:avLst/>
          </a:prstGeom>
          <a:solidFill>
            <a:srgbClr val="FFFFFF"/>
          </a:solidFill>
          <a:ln>
            <a:solidFill>
              <a:srgbClr val="B9B9B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8069580" y="13962888"/>
            <a:ext cx="3026664" cy="24688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E1E1E"/>
                </a:solidFill>
                <a:latin typeface="Cambria"/>
              </a:rPr>
              <a:t>User acceptance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11119104" y="13944600"/>
            <a:ext cx="1051560" cy="283464"/>
          </a:xfrm>
          <a:prstGeom prst="rect">
            <a:avLst/>
          </a:prstGeom>
          <a:solidFill>
            <a:srgbClr val="FFFFFF"/>
          </a:solidFill>
          <a:ln>
            <a:solidFill>
              <a:srgbClr val="B9B9B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1141964" y="13962888"/>
            <a:ext cx="1005839" cy="24688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E1E1E"/>
                </a:solidFill>
                <a:latin typeface="Cambria"/>
              </a:rPr>
              <a:t>3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12170664" y="13944600"/>
            <a:ext cx="1051560" cy="283464"/>
          </a:xfrm>
          <a:prstGeom prst="rect">
            <a:avLst/>
          </a:prstGeom>
          <a:solidFill>
            <a:srgbClr val="FFFFFF"/>
          </a:solidFill>
          <a:ln>
            <a:solidFill>
              <a:srgbClr val="B9B9B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12193524" y="13962888"/>
            <a:ext cx="1005839" cy="24688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E1E1E"/>
                </a:solidFill>
                <a:latin typeface="Cambria"/>
              </a:rPr>
              <a:t>3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13222224" y="13944600"/>
            <a:ext cx="1024128" cy="283464"/>
          </a:xfrm>
          <a:prstGeom prst="rect">
            <a:avLst/>
          </a:prstGeom>
          <a:solidFill>
            <a:srgbClr val="FFFFFF"/>
          </a:solidFill>
          <a:ln>
            <a:solidFill>
              <a:srgbClr val="B9B9B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13245084" y="13962888"/>
            <a:ext cx="978408" cy="24688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E1E1E"/>
                </a:solidFill>
                <a:latin typeface="Cambria"/>
              </a:rPr>
              <a:t>0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8046720" y="14282928"/>
            <a:ext cx="6537959" cy="20116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378353"/>
                </a:solidFill>
                <a:latin typeface="Cambria"/>
              </a:rPr>
              <a:t>Total: 25 reported tests; all passed in the final project report.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7845552" y="14804135"/>
            <a:ext cx="6940296" cy="420624"/>
          </a:xfrm>
          <a:prstGeom prst="roundRect">
            <a:avLst>
              <a:gd name="adj" fmla="val 12000"/>
            </a:avLst>
          </a:prstGeom>
          <a:solidFill>
            <a:srgbClr val="B71F25"/>
          </a:solidFill>
          <a:ln>
            <a:solidFill>
              <a:srgbClr val="B71F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7918704" y="14817851"/>
            <a:ext cx="6793992" cy="3840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mbria"/>
              </a:rPr>
              <a:t>Conclusion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7845552" y="15261335"/>
            <a:ext cx="6940296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C62F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8046720" y="15453359"/>
            <a:ext cx="91440" cy="91440"/>
          </a:xfrm>
          <a:prstGeom prst="ellipse">
            <a:avLst/>
          </a:prstGeom>
          <a:noFill/>
          <a:ln w="15240">
            <a:solidFill>
              <a:srgbClr val="B71F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8211312" y="15343631"/>
            <a:ext cx="6373368" cy="502920"/>
          </a:xfrm>
          <a:prstGeom prst="rect">
            <a:avLst/>
          </a:prstGeom>
          <a:noFill/>
        </p:spPr>
        <p:txBody>
          <a:bodyPr wrap="square" lIns="4572" rIns="4572" tIns="4572" bIns="457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1E1E"/>
                </a:solidFill>
                <a:latin typeface="Cambria"/>
              </a:rPr>
              <a:t>VoltSync brings station discovery, slot booking, charging estimates, QR check-in and operator controls into one responsive web application.</a:t>
            </a:r>
          </a:p>
        </p:txBody>
      </p:sp>
      <p:sp>
        <p:nvSpPr>
          <p:cNvPr id="174" name="Oval 173"/>
          <p:cNvSpPr/>
          <p:nvPr/>
        </p:nvSpPr>
        <p:spPr>
          <a:xfrm>
            <a:off x="8046720" y="15956280"/>
            <a:ext cx="91440" cy="91440"/>
          </a:xfrm>
          <a:prstGeom prst="ellipse">
            <a:avLst/>
          </a:prstGeom>
          <a:noFill/>
          <a:ln w="15240">
            <a:solidFill>
              <a:srgbClr val="B71F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8211312" y="15846551"/>
            <a:ext cx="6373368" cy="411480"/>
          </a:xfrm>
          <a:prstGeom prst="rect">
            <a:avLst/>
          </a:prstGeom>
          <a:noFill/>
        </p:spPr>
        <p:txBody>
          <a:bodyPr wrap="square" lIns="4572" rIns="4572" tIns="4572" bIns="457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1E1E"/>
                </a:solidFill>
                <a:latin typeface="Cambria"/>
              </a:rPr>
              <a:t>The final report states that the app was deployed to cloud hosting and validated with automated regression and additional tests.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7845552" y="16751808"/>
            <a:ext cx="6940296" cy="420624"/>
          </a:xfrm>
          <a:prstGeom prst="roundRect">
            <a:avLst>
              <a:gd name="adj" fmla="val 12000"/>
            </a:avLst>
          </a:prstGeom>
          <a:solidFill>
            <a:srgbClr val="B71F25"/>
          </a:solidFill>
          <a:ln>
            <a:solidFill>
              <a:srgbClr val="B71F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7918704" y="16765524"/>
            <a:ext cx="6793992" cy="3840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mbria"/>
              </a:rPr>
              <a:t>Limitations and future work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7845552" y="17209008"/>
            <a:ext cx="6940296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C62F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8028431" y="17291304"/>
            <a:ext cx="3154680" cy="256032"/>
          </a:xfrm>
          <a:prstGeom prst="rect">
            <a:avLst/>
          </a:prstGeom>
          <a:noFill/>
        </p:spPr>
        <p:txBody>
          <a:bodyPr wrap="square" lIns="4572" rIns="4572" tIns="4572" bIns="457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94151D"/>
                </a:solidFill>
                <a:latin typeface="Cambria"/>
              </a:rPr>
              <a:t>LIMITATIONS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028431" y="17583912"/>
            <a:ext cx="3154680" cy="1115568"/>
          </a:xfrm>
          <a:prstGeom prst="rect">
            <a:avLst/>
          </a:prstGeom>
          <a:noFill/>
        </p:spPr>
        <p:txBody>
          <a:bodyPr wrap="square" lIns="4572" rIns="4572" tIns="4572" bIns="457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E1E1E"/>
                </a:solidFill>
                <a:latin typeface="Cambria"/>
              </a:rPr>
              <a:t>• Simulated payments only.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E1E1E"/>
                </a:solidFill>
                <a:latin typeface="Cambria"/>
              </a:rPr>
              <a:t>• No physical charger integration.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E1E1E"/>
                </a:solidFill>
                <a:latin typeface="Cambria"/>
              </a:rPr>
              <a:t>• No native mobile app.</a:t>
            </a:r>
          </a:p>
        </p:txBody>
      </p:sp>
      <p:cxnSp>
        <p:nvCxnSpPr>
          <p:cNvPr id="181" name="Connector 180"/>
          <p:cNvCxnSpPr/>
          <p:nvPr/>
        </p:nvCxnSpPr>
        <p:spPr>
          <a:xfrm>
            <a:off x="11393424" y="17337024"/>
            <a:ext cx="0" cy="1161288"/>
          </a:xfrm>
          <a:prstGeom prst="line">
            <a:avLst/>
          </a:prstGeom>
          <a:ln w="12700">
            <a:solidFill>
              <a:srgbClr val="DADADA"/>
            </a:solidFill>
          </a:ln>
        </p:spPr>
      </p:cxnSp>
      <p:sp>
        <p:nvSpPr>
          <p:cNvPr id="182" name="TextBox 181"/>
          <p:cNvSpPr txBox="1"/>
          <p:nvPr/>
        </p:nvSpPr>
        <p:spPr>
          <a:xfrm>
            <a:off x="11576304" y="17291304"/>
            <a:ext cx="2971800" cy="256032"/>
          </a:xfrm>
          <a:prstGeom prst="rect">
            <a:avLst/>
          </a:prstGeom>
          <a:noFill/>
        </p:spPr>
        <p:txBody>
          <a:bodyPr wrap="square" lIns="4572" rIns="4572" tIns="4572" bIns="457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94151D"/>
                </a:solidFill>
                <a:latin typeface="Cambria"/>
              </a:rPr>
              <a:t>FUTURE WORK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1576304" y="17583912"/>
            <a:ext cx="2962656" cy="1115568"/>
          </a:xfrm>
          <a:prstGeom prst="rect">
            <a:avLst/>
          </a:prstGeom>
          <a:noFill/>
        </p:spPr>
        <p:txBody>
          <a:bodyPr wrap="square" lIns="4572" rIns="4572" tIns="4572" bIns="457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E1E1E"/>
                </a:solidFill>
                <a:latin typeface="Cambria"/>
              </a:rPr>
              <a:t>• Live payment integration.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E1E1E"/>
                </a:solidFill>
                <a:latin typeface="Cambria"/>
              </a:rPr>
              <a:t>• Charger telemetry / OCPP.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E1E1E"/>
                </a:solidFill>
                <a:latin typeface="Cambria"/>
              </a:rPr>
              <a:t>• Real-time updates and alerts.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E1E1E"/>
                </a:solidFill>
                <a:latin typeface="Cambria"/>
              </a:rPr>
              <a:t>• Expanded user testing.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7845552" y="19174968"/>
            <a:ext cx="6940296" cy="420624"/>
          </a:xfrm>
          <a:prstGeom prst="roundRect">
            <a:avLst>
              <a:gd name="adj" fmla="val 12000"/>
            </a:avLst>
          </a:prstGeom>
          <a:solidFill>
            <a:srgbClr val="B71F25"/>
          </a:solidFill>
          <a:ln>
            <a:solidFill>
              <a:srgbClr val="B71F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7918704" y="19188684"/>
            <a:ext cx="6793992" cy="3840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mbria"/>
              </a:rPr>
              <a:t>References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7845552" y="19632168"/>
            <a:ext cx="6940296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C62F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8028431" y="19696176"/>
            <a:ext cx="6574536" cy="832104"/>
          </a:xfrm>
          <a:prstGeom prst="rect">
            <a:avLst/>
          </a:prstGeom>
          <a:noFill/>
        </p:spPr>
        <p:txBody>
          <a:bodyPr wrap="square" lIns="4572" rIns="4572" tIns="4572" bIns="4572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250" b="0" i="0">
                <a:solidFill>
                  <a:srgbClr val="1E1E1E"/>
                </a:solidFill>
                <a:latin typeface="Cambria"/>
              </a:rPr>
              <a:t>1. VoltSync – EV Charging Station Finder &amp; Booking System, Final Project Report, P P Savani University, October 2026.</a:t>
            </a:r>
          </a:p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250" b="0" i="0">
                <a:solidFill>
                  <a:srgbClr val="1E1E1E"/>
                </a:solidFill>
                <a:latin typeface="Cambria"/>
              </a:rPr>
              <a:t>2. Internship / UDP / Training Reporting 2, 3 and 4, supplied project documents.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347472" y="20866608"/>
            <a:ext cx="14429232" cy="2468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5C5C5C"/>
                </a:solidFill>
                <a:latin typeface="Cambria"/>
              </a:rPr>
              <a:t>P P Savani University • School of Engineering  |  Internship period: 08 June – 03 October 2026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347472" y="21104352"/>
            <a:ext cx="14429232" cy="164592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30" b="0" i="1">
                <a:solidFill>
                  <a:srgbClr val="5C5C5C"/>
                </a:solidFill>
                <a:latin typeface="Cambria"/>
              </a:rPr>
              <a:t>*Metrics and implementation details are presented as reported in the submitted documents; not independently re-tested.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